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Морбекова Камилла. Я представляю аналитическую часть дипломной темы: поиск научных публикаций. В этой работе я не заявляю разработку всего агента. Я исследую пригодность данных и базовый способ ранжирования источников.</a:t>
            </a:r>
          </a:p>
          <a:p/>
          <a:p>
            <a:r>
              <a:t>Источник: Тема диплома № 13; автор: Морбекова Камилла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Пользователь ищет литературу для лекции или исследования. Модель только упорядочивает найденные источники. Решение остаётся у человека. Есть два вида ошибок: показать неподходящую статью и не показать нужную. Числовую стоимость ошибок мы не измеряли и не придумываем.</a:t>
            </a:r>
          </a:p>
          <a:p/>
          <a:p>
            <a:r>
              <a:t>Источник: Проектная постановка; исправленная заявка, занятие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JSONL означает, что каждая непустая строка содержит отдельный JSON-объект. Мы используем предоставленный снимок данных и сохраняем его контрольную сумму. Важно: имя папки 2025 не гарантирует, что поле year в каждой записи равно 2025.</a:t>
            </a:r>
          </a:p>
          <a:p/>
          <a:p>
            <a:r>
              <a:t>Источник: https://huggingface.co/datasets/yufan/arxiv-metadata-2020-2026; results/run_summary.json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восемь пунктов подробно сохранены в quality_checklist.csv. Отдельные таблицы содержат пропуски по полям и минимумы, медианы, максимумы чисел. Смысл проверки не в поиске красивых цифр, а в понимании ограничений данных.</a:t>
            </a:r>
          </a:p>
          <a:p/>
          <a:p>
            <a:r>
              <a:t>Источник: results/quality_checklist.csv; missing_values.csv; numeric_quality.csv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Подготовка разделена на три слоя, чтобы обработку можно было повторить. Для повторяющегося ID оставляем запись с более длинной аннотацией, при равенстве — более раннюю исходную строку. Это явно заданное правило. Соединение с месячными агрегатами проверено как many-to-one. Оно не является вторым независимым источником.</a:t>
            </a:r>
          </a:p>
          <a:p/>
          <a:p>
            <a:r>
              <a:t>Источник: analysis.py: run_analysis; data/raw, processed,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схеме один процесс и две дорожки: человек и поисковый модуль. Человек задаёт тему. Модуль рассчитывает выдачу. Человек оценивает источники. Если они не подходят, запрос уточняется. Вывод схемы: финальное решение нельзя передавать алгоритму.</a:t>
            </a:r>
          </a:p>
          <a:p/>
          <a:p>
            <a:r>
              <a:t>Источник: Развитие схемы из занятия 3; проектная BPMN-схема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исходный файл очищается и превращается в поисковый индекс. Это делается один раз для выбранного снимка данных. Затем каждый запрос преобразуется тем же словарём. Вычисляется сходство с документами, а не матрица всех пар публикаций. Вывод: подготовку корпуса не нужно повторять при каждом запросе.</a:t>
            </a:r>
          </a:p>
          <a:p/>
          <a:p>
            <a:r>
              <a:t>Источник: analysis.py; index/; схема пайплайна — вторая из двух схем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реальные результаты данного запуска, а не числа из чужого примера. CSV и Parquet содержат одинаковую таблицу, совпадение проверено. Агрегации проверены на одинаковый результат. Для обработки этого снимка достаточно использованной однокомпьютерной среды; это не доказывает пригодность для любых объёмов.</a:t>
            </a:r>
          </a:p>
          <a:p/>
          <a:p>
            <a:r>
              <a:t>Источник: results/benchmarks.csv; results/environment.json; protocol в 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Аннотация отсутствует у 0 исходных записей. Отсутствующие тексты не придумываются: используется название. Нули на графике означают отсутствие обнаруженных пропусков.</a:t>
            </a:r>
          </a:p>
          <a:p/>
          <a:p>
            <a:r>
              <a:t>Источник: analysis.py; results/figures/01_missing.png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Месяц извлечён из arXiv ID, а не из publicationDate. Отсутствующих месяцев 2025 года: 0; перечень сохранён в run_summary.json. Это покрытие поднабора, не статистика всего arXiv.</a:t>
            </a:r>
          </a:p>
          <a:p/>
          <a:p>
            <a:r>
              <a:t>Источник: analysis.py; results/figures/02_month.png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2 788 записей имеют заполненный year, отличный от 2025. Название папки не подменяет дату публикации. Причина расхождения требует сверки с первоисточниками.</a:t>
            </a:r>
          </a:p>
          <a:p/>
          <a:p>
            <a:r>
              <a:t>Источник: analysis.py; results/figures/03_year.png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Медиана: 2,0; максимум: 7 943. Использовано log10(1 + число цитирований), чтобы показать и малые, и большие значения. Цитируемость не является меткой релевантности.</a:t>
            </a:r>
          </a:p>
          <a:p/>
          <a:p>
            <a:r>
              <a:t>Источник: analysis.py; results/figures/04_citations.png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Медиана: 174 слов. Показаны длины до 99-го процентиля (284 слов); более длинные тексты сохранены в данных. Пустые аннотации в эту гистограмму не входят.</a:t>
            </a:r>
          </a:p>
          <a:p/>
          <a:p>
            <a:r>
              <a:t>Источник: analysis.py; results/figures/05_abstract.png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Медиана: 4. Счётчик получен разделением authors по точке с запятой. На графике значения до 99-го процентиля (18); ноль означает отсутствие списка, а не доказанное отсутствие авторов.</a:t>
            </a:r>
          </a:p>
          <a:p/>
          <a:p>
            <a:r>
              <a:t>Источник: analysis.py; results/figures/06_authors.png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Найдено 16 отдельных обозначений областей. В 31 925 записях несколько областей. Computer Science исключена только с этого графика; одна статья может учитываться в нескольких столбцах.</a:t>
            </a:r>
          </a:p>
          <a:p/>
          <a:p>
            <a:r>
              <a:t>Источник: analysis.py; results/figures/07_fields.png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Корреляция Спирмена на доступных парах: 0,298. Для читаемости показано до 5 000 случайных точек, seed=42. Связь не доказывает причинность; популярность не используется в поисковом score.</a:t>
            </a:r>
          </a:p>
          <a:p/>
          <a:p>
            <a:r>
              <a:t>Источник: analysis.py; results/figures/08_relation.png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TF-IDF даёт больший вес словам, которые полезны для различения документов. После нормировки скалярное произведение даёт косинусное сходство. Обучаемого классификатора и меток 0/1 для обучения здесь нет. Индекс строится на доступном корпусе; качество пользовательских запросов нужно проверять отдельно.</a:t>
            </a:r>
          </a:p>
          <a:p/>
          <a:p>
            <a:r>
              <a:t>Источник: https://scikit-learn.org/stable/modules/generated/sklearn.feature_extraction.text.TfidfVectorizer.html; SOURCES: cosine_similarity; analysis.py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сохранённая выдача алгоритма для первого заранее заданного запроса. Порядок не исправлялся вручную. Высокий score ещё не доказывает, что статья полезна преподавателю. Нужно прочитать название и аннотацию и сравнить с намерением запроса.</a:t>
            </a:r>
          </a:p>
          <a:p/>
          <a:p>
            <a:r>
              <a:t>Источник: results/search_results.csv; query_id=Q01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разделяем техническую исправность и полезность. Поиск по точному заголовку — упрощённый тест, ведь этот заголовок уже находится в индексе. Полученные проценты нельзя выдавать за точность рекомендаций. Полезность требует другой процедуры: независимой ручной оценки тематических запросов.</a:t>
            </a:r>
          </a:p>
          <a:p/>
          <a:p>
            <a:r>
              <a:t>Источник: results/known_item_tests.csv; предупреждение known_item_warning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Precision@10 — доля подходящих статей среди первых десяти. Метки внесены человеком и сохранены с пояснениями. Мы показываем среднее и число запросов, достигших цели. Уровень квалификации проверяющего не подтверждался отдельно; это нужно учитывать при интерпретации.</a:t>
            </a:r>
          </a:p>
          <a:p/>
          <a:p>
            <a:r>
              <a:t>Источник: evaluation/relevance_labels.csv; results/relevance_metrics.csv при наличии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Ограничения являются частью результата. Мы не утверждаем, что весь диплом готов. Следующий шаг — завершить оценку полезности и только после неё сравнивать более сложные методы. Для сравнения нужен общий фиксированный набор запросов и одинаковые правила разметки.</a:t>
            </a:r>
          </a:p>
          <a:p/>
          <a:p>
            <a:r>
              <a:t>Источник: Результаты анализа; план команды, не выполненные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Воспроизводимость означает, что известны исходные данные, версии и порядок запуска. В лёгком архиве нет большого корпуса — его нужно положить в data/raw. Отдельно остаётся вопрос требования двух источников: готовое обогащение мы не выдаём за выполненный нами внешний JOIN.</a:t>
            </a:r>
          </a:p>
          <a:p/>
          <a:p>
            <a:r>
              <a:t>Источник: README.md; requirements.txt; results/run_summary.json; требования занятия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работе используются предоставленный снимок корпуса и материалы курса. Методические сведения о TF-IDF, косинусном сходстве и формате идентификатора взяты из официальной документации. Полный список источников и оговорки о происхождении данных сохранены в README.</a:t>
            </a:r>
          </a:p>
          <a:p/>
          <a:p>
            <a:r>
              <a:t>Источник: Атрибуция: yufan; arXiv; Semantic Scholar. Лицензия набора указана в карточке источника.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Разработка ИИ-агента</a:t>
            </a:r>
          </a:p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для преподавателя, исследователя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Тема диплома № 13; автор: Морбекова Камилла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60704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Аналитическая часть: поиск научных публикаций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10058400" cy="1554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8293F"/>
                </a:solidFill>
                <a:latin typeface="Arial"/>
              </a:defRPr>
            </a:pPr>
            <a:r>
              <a:t>Морбекова Камилла</a:t>
            </a:r>
          </a:p>
          <a:p>
            <a:pPr>
              <a:spcAft>
                <a:spcPts val="1000"/>
              </a:spcAft>
              <a:defRPr sz="2400" b="0">
                <a:solidFill>
                  <a:srgbClr val="18293F"/>
                </a:solidFill>
                <a:latin typeface="Arial"/>
              </a:defRPr>
            </a:pPr>
            <a:r>
              <a:t>Первый рубежный контроль</a:t>
            </a:r>
          </a:p>
          <a:p>
            <a:pPr>
              <a:spcAft>
                <a:spcPts val="1000"/>
              </a:spcAft>
              <a:defRPr sz="2400" b="0">
                <a:solidFill>
                  <a:srgbClr val="18293F"/>
                </a:solidFill>
                <a:latin typeface="Arial"/>
              </a:defRPr>
            </a:pPr>
            <a:r>
              <a:t>Корпус после очистки: 140 576 публикаций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Что решается и кто принимает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Проектная постановка; исправленная заявка, занятие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Пользователь: преподаватель или исследователь.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Ввод: тема на английском языке. Результат: Top-10 источников, а не готовый обзор.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Человек выбирает, какие статьи читать и использовать.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Лишняя статья тратит время; пропущенная важная статья обедняет обзор.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Цель: не менее 7 подходящих статей в Top-10; это проверяемая цель, не заранее полученный результат.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Какие данные загружены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https://huggingface.co/datasets/yufan/arxiv-metadata-2020-2026; results/run_summary.json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Исходник: 140 576 записей, 14 полей, 258,64 МБ JSONL.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Одна запись — публикация. Ключ: arxiv_id.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Файл: Computer_Science/2025; фактический year проверяется отдельно.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Название + аннотация — вход поиска. Цитирования — только для анализа.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Происхождение: arXiv + Semantic Scholar; полученный файл — один обогащённый источник.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Восемь проверок качества: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results/quality_checklist.csv; missing_values.csv; numeric_quality.csv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Структура: 140 576 строк → 140 576 после очистки.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Ключ: 0 некорректных/пустых ID; 0 удалённых повторов.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Тексты: 0 пустых названий; 0 аннотаций без текста после очистки.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Числа: 0 некорректных значений; даты: 0 ошибок разбора.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Период: 2 788 заполненных year ≠ 2025; областей: 16.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Готовых меток релевантности нет: предусмотрена отдельная ручная проверка.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Подготовка: исходник не меняем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analysis.py: run_analysis; data/raw, processed,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raw — исходный JSONL и его SHA-256.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processed — ключи, типы, обработка повторов; CSV и Parquet одного содержания.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features — число авторов, областей, слов; агрегаты по месяцу arXiv ID.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Проверка соединения: 140 576 → 140 576 строк.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Нет аннотации — используем название. Неизвестные цитирования не равны нулю.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year и publicationDate не переписываются под название папки.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BPMN: от запроса до выбора источников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Развитие схемы из занятия 3; проектная BPMN-схема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09960" cy="1645920"/>
          </a:xfrm>
          <a:prstGeom prst="rect">
            <a:avLst/>
          </a:prstGeom>
          <a:noFill/>
          <a:ln>
            <a:solidFill>
              <a:srgbClr val="536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8293F"/>
                </a:solidFill>
                <a:latin typeface="Arial"/>
              </a:defRPr>
            </a:pPr>
            <a:r>
              <a:t>Преподаватель / исследователь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11109960" cy="1645920"/>
          </a:xfrm>
          <a:prstGeom prst="rect">
            <a:avLst/>
          </a:prstGeom>
          <a:noFill/>
          <a:ln>
            <a:solidFill>
              <a:srgbClr val="5362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8293F"/>
                </a:solidFill>
                <a:latin typeface="Arial"/>
              </a:defRPr>
            </a:pPr>
            <a:r>
              <a:t>Поисковый модуль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874519"/>
            <a:ext cx="640080" cy="640080"/>
          </a:xfrm>
          <a:prstGeom prst="ellipse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10972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8293F"/>
                </a:solidFill>
                <a:latin typeface="Arial"/>
              </a:defRPr>
            </a:pPr>
            <a:r>
              <a:t>Нужны источники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1828800"/>
            <a:ext cx="18288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Ввести / уточнить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запрос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703320"/>
            <a:ext cx="18288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Векторизация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запроса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703320"/>
            <a:ext cx="18288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Рассчитать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сходство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703320"/>
            <a:ext cx="18288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Выдать Top-10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828800"/>
            <a:ext cx="18288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Просмотреть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источники</a:t>
            </a:r>
          </a:p>
        </p:txBody>
      </p:sp>
      <p:sp>
        <p:nvSpPr>
          <p:cNvPr id="17" name="Diamond 16"/>
          <p:cNvSpPr/>
          <p:nvPr/>
        </p:nvSpPr>
        <p:spPr>
          <a:xfrm>
            <a:off x="9738360" y="1783080"/>
            <a:ext cx="914400" cy="868680"/>
          </a:xfrm>
          <a:prstGeom prst="diamond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417320"/>
            <a:ext cx="11887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8293F"/>
                </a:solidFill>
                <a:latin typeface="Arial"/>
              </a:defRPr>
            </a:pPr>
            <a:r>
              <a:t>Подходит?</a:t>
            </a:r>
          </a:p>
        </p:txBody>
      </p:sp>
      <p:sp>
        <p:nvSpPr>
          <p:cNvPr id="19" name="Oval 18"/>
          <p:cNvSpPr/>
          <p:nvPr/>
        </p:nvSpPr>
        <p:spPr>
          <a:xfrm>
            <a:off x="10881360" y="1901952"/>
            <a:ext cx="640080" cy="640080"/>
          </a:xfrm>
          <a:prstGeom prst="ellipse">
            <a:avLst/>
          </a:prstGeom>
          <a:solidFill>
            <a:srgbClr val="F2F6FA"/>
          </a:solidFill>
          <a:ln w="38100"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98480" y="2606040"/>
            <a:ext cx="8229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8293F"/>
                </a:solidFill>
                <a:latin typeface="Arial"/>
              </a:defRPr>
            </a:pPr>
            <a:r>
              <a:t>Выбор сделан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2194560"/>
            <a:ext cx="41148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2286000"/>
            <a:ext cx="548640" cy="141732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20640" y="406908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4069080"/>
            <a:ext cx="45720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503920" y="2560320"/>
            <a:ext cx="182880" cy="114300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18320" y="2194560"/>
            <a:ext cx="32004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52760" y="2194560"/>
            <a:ext cx="22860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95560" y="2651760"/>
            <a:ext cx="0" cy="32004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743200" y="2971800"/>
            <a:ext cx="74523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43200" y="2560320"/>
            <a:ext cx="0" cy="41148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52760" y="1554480"/>
            <a:ext cx="5486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8293F"/>
                </a:solidFill>
                <a:latin typeface="Arial"/>
              </a:defRPr>
            </a:pPr>
            <a:r>
              <a:t>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697480"/>
            <a:ext cx="23774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8293F"/>
                </a:solidFill>
                <a:latin typeface="Arial"/>
              </a:defRPr>
            </a:pPr>
            <a:r>
              <a:t>Нет: уточнить запрос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107899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293F"/>
                </a:solidFill>
                <a:latin typeface="Arial"/>
              </a:defRPr>
            </a:pPr>
            <a:r>
              <a:t>Вывод: алгоритм ранжирует; окончательный выбор делает человек.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Пайплайн: подготовка отдельно от поиска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index/; схема пайплайна — вторая из двух схем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JSONL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raw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691640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Проверки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и очистка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91640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title + abstract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91640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TF-IDF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индекс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14884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46320" y="214884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14884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749039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Запрос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пользователя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749039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Тот же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словарь TF-IDF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3749039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Косинусное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сходство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749039"/>
            <a:ext cx="1874519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7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18288"/>
          <a:lstStyle/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Top-10</a:t>
            </a:r>
          </a:p>
          <a:p>
            <a:pPr>
              <a:defRPr sz="1500">
                <a:solidFill>
                  <a:srgbClr val="18293F"/>
                </a:solidFill>
                <a:latin typeface="Arial"/>
              </a:defRPr>
            </a:pPr>
            <a:r>
              <a:t>публикаций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420624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420624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86600" y="4206240"/>
            <a:ext cx="365760" cy="0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126480" y="2606040"/>
            <a:ext cx="2286000" cy="1142999"/>
          </a:xfrm>
          <a:prstGeom prst="line">
            <a:avLst/>
          </a:prstGeom>
          <a:ln w="20320">
            <a:solidFill>
              <a:srgbClr val="5362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303520"/>
            <a:ext cx="107899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293F"/>
                </a:solidFill>
                <a:latin typeface="Arial"/>
              </a:defRPr>
            </a:pPr>
            <a:r>
              <a:t>Вывод: индекс строится заранее; для нового запроса пересчитывается только выдача.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Замеры хранения и обработки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results/benchmarks.csv; results/environment.json; protocol в run_summary.json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CSV: 230,41 МБ  |  Parquet: 122,71 МБ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Чтение CSV: 2,5791 с  |  Parquet: 0,7396 с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Агрегация по одному Parquet: DuckDB 0,0037 с; pandas 0,0311 с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ОЗУ среды: 12,67 ГиБ; Python 3.13.16.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Медиана трёх запусков; кэш ОС не очищался; значения не универсальны.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Выбор для этого запуска: pandas для подготовки, Parquet для хранения, DuckDB для SQL-агрегаций.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Пропуски в исходных полях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results/figures/01_missing.png</a:t>
            </a:r>
          </a:p>
        </p:txBody>
      </p:sp>
      <p:pic>
        <p:nvPicPr>
          <p:cNvPr id="6" name="Picture 5" descr="01_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Аннотация отсутствует у 0 исходных записей. Отсутствующие тексты не придумываются: используется название. Нули на графике означают отсутствие обнаруженных пропусков.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Покрытие по месяцу в arXiv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results/figures/02_month.png</a:t>
            </a:r>
          </a:p>
        </p:txBody>
      </p:sp>
      <p:pic>
        <p:nvPicPr>
          <p:cNvPr id="6" name="Picture 5" descr="02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Месяц извлечён из arXiv ID, а не из publicationDate. Отсутствующих месяцев 2025 года: 0; перечень сохранён в run_summary.json. Это покрытие поднабора, не статистика всего arXiv.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Фактические значения поля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results/figures/03_year.png</a:t>
            </a:r>
          </a:p>
        </p:txBody>
      </p:sp>
      <p:pic>
        <p:nvPicPr>
          <p:cNvPr id="6" name="Picture 5" descr="03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2 788 записей имеют заполненный year, отличный от 2025. Название папки не подменяет дату публикации. Причина расхождения требует сверки с первоисточниками.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Распределение цитирований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results/figures/04_citations.png</a:t>
            </a:r>
          </a:p>
        </p:txBody>
      </p:sp>
      <p:pic>
        <p:nvPicPr>
          <p:cNvPr id="6" name="Picture 5" descr="04_ci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Медиана: 2,0; максимум: 7 943. Использовано log10(1 + число цитирований), чтобы показать и малые, и большие значения. Цитируемость не является меткой релевантности.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Длина доступных аннотаций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results/figures/05_abstract.png</a:t>
            </a:r>
          </a:p>
        </p:txBody>
      </p:sp>
      <p:pic>
        <p:nvPicPr>
          <p:cNvPr id="6" name="Picture 5" descr="05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Медиана: 174 слов. Показаны длины до 99-го процентиля (284 слов); более длинные тексты сохранены в данных. Пустые аннотации в эту гистограмму не входят.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Количество авторов в записи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results/figures/06_authors.png</a:t>
            </a:r>
          </a:p>
        </p:txBody>
      </p:sp>
      <p:pic>
        <p:nvPicPr>
          <p:cNvPr id="6" name="Picture 5" descr="06_auth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Медиана: 4. Счётчик получен разделением authors по точке с запятой. На графике значения до 99-го процентиля (18); ноль означает отсутствие списка, а не доказанное отсутствие авторов.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Дополнительные научные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results/figures/07_fields.png</a:t>
            </a:r>
          </a:p>
        </p:txBody>
      </p:sp>
      <p:pic>
        <p:nvPicPr>
          <p:cNvPr id="6" name="Picture 5" descr="07_fie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Найдено 16 отдельных обозначений областей. В 31 925 записях несколько областей. Computer Science исключена только с этого графика; одна статья может учитываться в нескольких столбцах.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Авторы и цитирования: связь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analysis.py; results/figures/08_relation.png</a:t>
            </a:r>
          </a:p>
        </p:txBody>
      </p:sp>
      <p:pic>
        <p:nvPicPr>
          <p:cNvPr id="6" name="Picture 5" descr="08_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8275320" cy="448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6840" y="150876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763A1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651760" cy="3703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293F"/>
                </a:solidFill>
                <a:latin typeface="Arial"/>
              </a:defRPr>
            </a:pPr>
            <a:r>
              <a:t>Корреляция Спирмена на доступных парах: 0,298. Для читаемости показано до 5 000 случайных точек, seed=42. Связь не доказывает причинность; популярность не используется в поисковом score.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Baseline: TF-IDF + косинусное сходство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https://scikit-learn.org/stable/modules/generated/sklearn.feature_extraction.text.TfidfVectorizer.html; SOURCES: cosine_similarity; analysis.py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Текст документа = название + доступная аннотация.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TF-IDF выделяет значимые слова; это лексический, не полноценный семантический поиск.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Индекс: 140 576 × 70 690; разреженное хранение 105,5 МБ.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Параметры: min_df=2, max_df=0,98, до 80 000 признаков; seed=42 в выборках.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Построение индекса: 16,32 с; медиана запроса: 0,0643 с.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Score — сходство, а не вероятность правильности. Цитирования в score не входят.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Пример фактической выдачи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results/search_results.csv; query_id=Q01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Запрос: large language models in education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1. Position: LLMs Can be Good Tutors in English Education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    arXiv 2502.05467; score 0.3029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2. A systematic review of research on large language models for computer programming education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    arXiv 2506.21818; score 0.2900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3. Towards Supporting Penetration Testing Education with Large Language Models: an Evaluation and Comparison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    arXiv 2501.17539; score 0.2780</a:t>
            </a:r>
          </a:p>
          <a:p>
            <a:pPr>
              <a:spcAft>
                <a:spcPts val="1000"/>
              </a:spcAft>
              <a:defRPr sz="1900" b="0">
                <a:solidFill>
                  <a:srgbClr val="18293F"/>
                </a:solidFill>
                <a:latin typeface="Arial"/>
              </a:defRPr>
            </a:pPr>
            <a:r>
              <a:t>Полные Top-10 и аннотации: search_results.csv / review_results.html.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Техническая проверка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results/known_item_tests.csv; предупреждение known_item_warning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Проверено 100 случайных записей; seed=42.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Запросом служило точное название уже имеющейся публикации.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Та же запись на первом месте: 92,0%.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Та же запись в Top-10: 99,0%.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Это проверка индекса и ранжирования — НЕ Precision@10 пользовательских запросов.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Тест не доказывает понимание смысла, полноту поиска или пользу для преподавателя.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Оценка полезности: статус и критерий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evaluation/relevance_labels.csv; results/relevance_metrics.csv при наличии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Ручная проверка: 10 запросов.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Средняя Precision@10: 0,670.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Цель ≥7 из 10 выполнена на 6 из 10 запросов.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Проверяющие: Морбекова Камилла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Это оценка по введённым меткам; она не измеряет Recall по всему корпусу.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Ограничения и дальнейший 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Результаты анализа; план команды, не выполненные эксперименты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Корпус ограничен выбранным поднабором; это не вся научная литература.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Различаются год папки, year и publicationDate: нужна сверка первоисточников.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Лексический поиск плохо учитывает синонимы и язык запроса.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Закончить ручную проверку, разобрать ошибки и проверить критерий 7/10.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Далее сравнить с BM25 / семантическим поиском на тех же запросах.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В дипломе: интеграция модуля в агента. Сам агент в этой работе не реализован.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Воспроизводимость и оставшиеся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README.md; requirements.txt; results/run_summary.json; требования занятия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Код: analysis.py; версии: requirements.txt; снимок данных: SHA-256.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Чистый запуск пересобирает данные, графики, индекс и материалы.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Повторные замеры скорости могут отличаться; содержание снимка проверяется хешем.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Внешних исходных систем две, но загруженный обогащённый файл один.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Самостоятельное соединение двух независимых источников НЕ выполнено; нужно согласование преподавателя.</a:t>
            </a:r>
          </a:p>
          <a:p>
            <a:pPr>
              <a:spcAft>
                <a:spcPts val="1000"/>
              </a:spcAft>
              <a:defRPr sz="2300" b="0">
                <a:solidFill>
                  <a:srgbClr val="18293F"/>
                </a:solidFill>
                <a:latin typeface="Arial"/>
              </a:defRPr>
            </a:pPr>
            <a:r>
              <a:t>Перед защитой: завершить разметку, открыть презентацию и проверить читаемость всех слайдов.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6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8293F"/>
                </a:solidFill>
                <a:latin typeface="Arial"/>
              </a:defRPr>
            </a:pPr>
            <a:r>
              <a:t>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06424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Морбекова Камилла  |  Аналитика больших данных в бизнесе  |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0642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274"/>
                </a:solidFill>
                <a:latin typeface="Arial"/>
              </a:defRPr>
            </a:pPr>
            <a:r>
              <a:t>Атрибуция: yufan; arXiv; Semantic Scholar. Лицензия набора указана в карточке источника.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Набор данных: yufan, arXiv + Semantic Scholar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https://huggingface.co/datasets/yufan/arxiv-metadata-2020-2026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Структура идентификаторов arXiv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https://info.arxiv.org/help/arxiv_identifier.html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TF-IDF, официальная документация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https://scikit-learn.org/stable/modules/generated/sklearn.feature_extraction.text.TfidfVectorizer.html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Косинусное сходство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https://scikit-learn.org/stable/modules/generated/sklearn.metrics.pairwise.cosine_similarity.html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DuckDB: чтение Parquet</a:t>
            </a:r>
          </a:p>
          <a:p>
            <a:pPr>
              <a:spcAft>
                <a:spcPts val="1000"/>
              </a:spcAft>
              <a:defRPr sz="1600" b="0">
                <a:solidFill>
                  <a:srgbClr val="18293F"/>
                </a:solidFill>
                <a:latin typeface="Arial"/>
              </a:defRPr>
            </a:pPr>
            <a:r>
              <a:t>https://duckdb.org/docs/stable/data/parquet/overview.html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